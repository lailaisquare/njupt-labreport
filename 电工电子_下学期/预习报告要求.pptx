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"/>
  </p:notesMasterIdLst>
  <p:sldIdLst>
    <p:sldId id="315" r:id="rId2"/>
    <p:sldId id="327" r:id="rId3"/>
    <p:sldId id="328" r:id="rId4"/>
    <p:sldId id="317" r:id="rId5"/>
    <p:sldId id="278" r:id="rId6"/>
    <p:sldId id="292" r:id="rId7"/>
    <p:sldId id="29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C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284" y="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15BB2-601E-403F-9FDB-3E20C907A62B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8E575-9C6C-4393-ABAF-F1C0157F1F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846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2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0D4F2-E96F-4D5B-8783-87D60E1399B7}" type="datetime1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1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48C6A-BA40-47FA-A8FA-76E867EB4601}" type="datetime1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6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00A6F-F9BB-4224-9B40-267600625D7D}" type="datetime1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4599433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2DE98-53E8-4595-B927-EA39BA636DEE}" type="datetime1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1"/>
            <a:ext cx="5242560" cy="639763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1"/>
            <a:ext cx="5242560" cy="639763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42DA-F0C1-430A-97F1-7923DE5C9921}" type="datetime1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7890D-9233-46CD-BE82-6F5855908809}" type="datetime1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408A-6C70-459B-9B0C-0FE74A6F167E}" type="datetime1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5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48E4A-2C89-445C-95A6-96A2F6AB157B}" type="datetime1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2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1DFC-5882-4645-ABA0-C0ED1F3F8EC0}" type="datetime1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4C87-89A5-446C-98F8-C624F6E1E9D5}" type="datetime1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BA6BD-2453-4260-ADFD-F5A10A49E960}" type="datetime1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7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1CEEAEB8-CAFC-40B7-8C0F-8D770D135718}" type="datetime1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18288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27DA8-7781-69FB-D2D6-11DEFFED2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52E9F9B-914E-16B1-C170-B1F5B040D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338C0B1-E763-9814-63D7-877AB91CF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C913308-F349-4B6D-A68A-DD1791B4A57B}" type="slidenum">
              <a:rPr lang="zh-CN" altLang="en-US" smtClean="0"/>
              <a:pPr algn="r"/>
              <a:t>1</a:t>
            </a:fld>
            <a:endParaRPr lang="zh-CN" alt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43A43D52-1992-0254-AAF2-D032C352F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四、实验课学习要求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2C7AF6B-411C-50A4-E86F-9B0526F4E8F2}"/>
              </a:ext>
            </a:extLst>
          </p:cNvPr>
          <p:cNvSpPr txBox="1">
            <a:spLocks/>
          </p:cNvSpPr>
          <p:nvPr/>
        </p:nvSpPr>
        <p:spPr>
          <a:xfrm>
            <a:off x="609600" y="1600200"/>
            <a:ext cx="10972800" cy="27649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60000"/>
              </a:lnSpc>
              <a:spcBef>
                <a:spcPts val="600"/>
              </a:spcBef>
              <a:spcAft>
                <a:spcPts val="1200"/>
              </a:spcAft>
              <a:buClr>
                <a:schemeClr val="tx2"/>
              </a:buClr>
              <a:buSzPct val="90000"/>
              <a:buFont typeface="+mj-ea"/>
              <a:buAutoNum type="circleNumDbPlain"/>
            </a:pPr>
            <a:r>
              <a:rPr lang="zh-CN" altLang="en-US" dirty="0">
                <a:latin typeface="Times New Roman" pitchFamily="18" charset="0"/>
                <a:ea typeface="黑体" pitchFamily="49" charset="-122"/>
              </a:rPr>
              <a:t>预习报告</a:t>
            </a:r>
            <a:endParaRPr lang="en-US" altLang="zh-CN" dirty="0">
              <a:latin typeface="Times New Roman" pitchFamily="18" charset="0"/>
              <a:ea typeface="黑体" pitchFamily="49" charset="-122"/>
            </a:endParaRPr>
          </a:p>
          <a:p>
            <a:pPr marL="720000" indent="-288000" algn="just">
              <a:lnSpc>
                <a:spcPct val="150000"/>
              </a:lnSpc>
              <a:spcBef>
                <a:spcPts val="1200"/>
              </a:spcBef>
              <a:buClr>
                <a:schemeClr val="tx2"/>
              </a:buClr>
              <a:buSzPct val="90000"/>
            </a:pPr>
            <a:r>
              <a:rPr lang="zh-CN" altLang="en-US" sz="2000" dirty="0">
                <a:latin typeface="Times New Roman" pitchFamily="18" charset="0"/>
                <a:ea typeface="黑体" pitchFamily="49" charset="-122"/>
              </a:rPr>
              <a:t>熟悉实验步骤；</a:t>
            </a:r>
            <a:endParaRPr lang="en-US" altLang="zh-CN" sz="2000" dirty="0">
              <a:latin typeface="Times New Roman" pitchFamily="18" charset="0"/>
              <a:ea typeface="黑体" pitchFamily="49" charset="-122"/>
            </a:endParaRPr>
          </a:p>
          <a:p>
            <a:pPr marL="720000" indent="-288000" algn="just">
              <a:lnSpc>
                <a:spcPct val="150000"/>
              </a:lnSpc>
              <a:spcBef>
                <a:spcPts val="1200"/>
              </a:spcBef>
              <a:buClr>
                <a:schemeClr val="tx2"/>
              </a:buClr>
              <a:buSzPct val="90000"/>
            </a:pPr>
            <a:r>
              <a:rPr lang="zh-CN" altLang="en-US" sz="2000" dirty="0">
                <a:latin typeface="Times New Roman" pitchFamily="18" charset="0"/>
                <a:ea typeface="黑体" pitchFamily="49" charset="-122"/>
              </a:rPr>
              <a:t>理论值计算，实验电路设计，元器件的选取和参数设置；</a:t>
            </a:r>
          </a:p>
          <a:p>
            <a:pPr marL="432000" indent="0" algn="just">
              <a:lnSpc>
                <a:spcPct val="150000"/>
              </a:lnSpc>
              <a:spcBef>
                <a:spcPts val="1200"/>
              </a:spcBef>
              <a:buClr>
                <a:schemeClr val="tx2"/>
              </a:buClr>
              <a:buSzPct val="90000"/>
              <a:buNone/>
            </a:pPr>
            <a:r>
              <a:rPr lang="zh-CN" altLang="en-US" sz="2000" dirty="0">
                <a:latin typeface="Times New Roman" pitchFamily="18" charset="0"/>
                <a:ea typeface="黑体" pitchFamily="49" charset="-122"/>
              </a:rPr>
              <a:t>（设计类题目要有设计过程）</a:t>
            </a:r>
          </a:p>
          <a:p>
            <a:pPr marL="0" indent="0" algn="just">
              <a:lnSpc>
                <a:spcPct val="160000"/>
              </a:lnSpc>
              <a:spcBef>
                <a:spcPts val="600"/>
              </a:spcBef>
              <a:buClr>
                <a:schemeClr val="tx2"/>
              </a:buClr>
              <a:buSzPct val="90000"/>
              <a:buFont typeface="Arial" pitchFamily="34" charset="0"/>
              <a:buNone/>
            </a:pPr>
            <a:endParaRPr lang="zh-CN" altLang="en-US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700080-347A-175E-076F-337AC23A869B}"/>
              </a:ext>
            </a:extLst>
          </p:cNvPr>
          <p:cNvSpPr txBox="1"/>
          <p:nvPr/>
        </p:nvSpPr>
        <p:spPr>
          <a:xfrm>
            <a:off x="6888088" y="4149080"/>
            <a:ext cx="3888432" cy="173664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itchFamily="18" charset="0"/>
                <a:ea typeface="黑体" pitchFamily="49" charset="-122"/>
              </a:rPr>
              <a:t>理论计算；</a:t>
            </a:r>
            <a:endParaRPr lang="en-US" altLang="zh-CN" sz="2400" dirty="0">
              <a:latin typeface="Times New Roman" pitchFamily="18" charset="0"/>
              <a:ea typeface="黑体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itchFamily="18" charset="0"/>
                <a:ea typeface="黑体" pitchFamily="49" charset="-122"/>
              </a:rPr>
              <a:t>元器件选型；</a:t>
            </a:r>
            <a:endParaRPr lang="en-US" altLang="zh-CN" sz="2400" dirty="0">
              <a:latin typeface="Times New Roman" pitchFamily="18" charset="0"/>
              <a:ea typeface="黑体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itchFamily="18" charset="0"/>
                <a:ea typeface="黑体" pitchFamily="49" charset="-122"/>
              </a:rPr>
              <a:t>电路图；</a:t>
            </a:r>
            <a:endParaRPr lang="en-US" altLang="zh-CN" sz="2400" dirty="0">
              <a:latin typeface="Times New Roman" pitchFamily="18" charset="0"/>
              <a:ea typeface="黑体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仿真结果</a:t>
            </a:r>
            <a:r>
              <a:rPr lang="zh-CN" altLang="en-US" sz="2400" dirty="0">
                <a:latin typeface="Times New Roman" pitchFamily="18" charset="0"/>
                <a:ea typeface="黑体" pitchFamily="49" charset="-122"/>
              </a:rPr>
              <a:t>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6358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F9714-5661-D61E-52C2-3F21B3F1E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D01602-D8E2-8396-F31B-33CAC091B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itchFamily="18" charset="0"/>
                <a:ea typeface="黑体" pitchFamily="49" charset="-122"/>
              </a:rPr>
              <a:t>预习报告模板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E18AB9-A70C-C15B-E21D-F9993DCDD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D255B4C9-3A13-E44F-8702-0ADB38B2B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42484CE6-E6D4-5475-A991-AB5F77686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412776"/>
            <a:ext cx="8229600" cy="511256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标  题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一、实验内容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Font typeface="Arial" pitchFamily="34" charset="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概述，</a:t>
            </a:r>
            <a:r>
              <a:rPr lang="en-US" altLang="zh-CN" sz="1800" dirty="0">
                <a:latin typeface="仿宋" pitchFamily="49" charset="-122"/>
                <a:ea typeface="仿宋" pitchFamily="49" charset="-122"/>
              </a:rPr>
              <a:t>200</a:t>
            </a: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字以内；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Font typeface="Arial" pitchFamily="34" charset="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使用硬件、软件列表；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二、设计过程与仿真结果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endParaRPr lang="en-US" altLang="zh-CN" sz="1800" dirty="0"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991C8E4-C570-7983-D60A-AE7246B49C8D}"/>
              </a:ext>
            </a:extLst>
          </p:cNvPr>
          <p:cNvSpPr/>
          <p:nvPr/>
        </p:nvSpPr>
        <p:spPr>
          <a:xfrm>
            <a:off x="4511824" y="4296786"/>
            <a:ext cx="4968552" cy="1652494"/>
          </a:xfrm>
          <a:prstGeom prst="roundRect">
            <a:avLst>
              <a:gd name="adj" fmla="val 6806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eaLnBrk="1" hangingPunct="1">
              <a:lnSpc>
                <a:spcPct val="110000"/>
              </a:lnSpc>
              <a:spcBef>
                <a:spcPct val="0"/>
              </a:spcBef>
              <a:buClr>
                <a:schemeClr val="tx2"/>
              </a:buClr>
              <a:buFontTx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</a:rPr>
              <a:t>设计过程</a:t>
            </a:r>
          </a:p>
          <a:p>
            <a:pPr marL="0" lvl="0" indent="0" algn="l" eaLnBrk="1" hangingPunct="1">
              <a:lnSpc>
                <a:spcPct val="110000"/>
              </a:lnSpc>
              <a:spcBef>
                <a:spcPct val="0"/>
              </a:spcBef>
              <a:buClr>
                <a:schemeClr val="tx2"/>
              </a:buClr>
              <a:buFontTx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</a:rPr>
              <a:t>）基本电路理论；</a:t>
            </a:r>
          </a:p>
          <a:p>
            <a:pPr marL="0" lvl="0" indent="0" algn="l" eaLnBrk="1" hangingPunct="1">
              <a:lnSpc>
                <a:spcPct val="110000"/>
              </a:lnSpc>
              <a:spcBef>
                <a:spcPct val="0"/>
              </a:spcBef>
              <a:buClr>
                <a:schemeClr val="tx2"/>
              </a:buClr>
              <a:buFontTx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（</a:t>
            </a:r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）理论参数计算；</a:t>
            </a:r>
          </a:p>
          <a:p>
            <a:pPr marL="0" lvl="1" indent="0" algn="l" eaLnBrk="1" hangingPunct="1">
              <a:lnSpc>
                <a:spcPct val="110000"/>
              </a:lnSpc>
              <a:spcBef>
                <a:spcPct val="0"/>
              </a:spcBef>
              <a:buClr>
                <a:schemeClr val="tx2"/>
              </a:buClr>
              <a:buFontTx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（</a:t>
            </a:r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）电路设计；</a:t>
            </a:r>
          </a:p>
          <a:p>
            <a:pPr marL="0" lvl="1" indent="0" algn="l" eaLnBrk="1" hangingPunct="1">
              <a:lnSpc>
                <a:spcPct val="110000"/>
              </a:lnSpc>
              <a:spcBef>
                <a:spcPct val="0"/>
              </a:spcBef>
              <a:buClr>
                <a:schemeClr val="tx2"/>
              </a:buClr>
              <a:buFontTx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（</a:t>
            </a:r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4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）</a:t>
            </a:r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Multisim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仿真。</a:t>
            </a:r>
          </a:p>
        </p:txBody>
      </p:sp>
    </p:spTree>
    <p:extLst>
      <p:ext uri="{BB962C8B-B14F-4D97-AF65-F5344CB8AC3E}">
        <p14:creationId xmlns:p14="http://schemas.microsoft.com/office/powerpoint/2010/main" val="1508377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A41B1-29B9-DB42-EC18-7D81D8C46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2C46D8-1D53-47FA-FC03-26EE8523F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itchFamily="18" charset="0"/>
                <a:ea typeface="黑体" pitchFamily="49" charset="-122"/>
              </a:rPr>
              <a:t>预习报告模板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8FDE6B-587A-2B9B-F27E-F7709704C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5B47CCC5-3F0E-DFE0-37C9-4494DA81B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F3646981-BAA1-E2C9-C1BA-A1CDD21EA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412776"/>
            <a:ext cx="8229600" cy="511256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标  题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一、实验内容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Font typeface="Arial" pitchFamily="34" charset="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实验题目；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Font typeface="Arial" pitchFamily="34" charset="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使用硬件、软件；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二、设计过程与仿真结果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endParaRPr lang="en-US" altLang="zh-CN" sz="1800" dirty="0"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8C0D799-82CF-AE90-0D7B-975892504352}"/>
              </a:ext>
            </a:extLst>
          </p:cNvPr>
          <p:cNvSpPr/>
          <p:nvPr/>
        </p:nvSpPr>
        <p:spPr>
          <a:xfrm>
            <a:off x="2135560" y="5013977"/>
            <a:ext cx="5328592" cy="1335125"/>
          </a:xfrm>
          <a:prstGeom prst="roundRect">
            <a:avLst>
              <a:gd name="adj" fmla="val 1134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电路图绘制要求：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注明元件的型号和参数。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元件电源和地线管脚和连线在原理图中需要注明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元件间连线若过长，可以通过加网络名的方式连接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2295193-3FAF-83CE-5A2A-6AD45F276AB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26" r="50605" b="55975"/>
          <a:stretch/>
        </p:blipFill>
        <p:spPr bwMode="auto">
          <a:xfrm>
            <a:off x="5519936" y="1989641"/>
            <a:ext cx="4242925" cy="302433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CBCF1D3-CA4B-30D7-F746-1AF2E2393384}"/>
              </a:ext>
            </a:extLst>
          </p:cNvPr>
          <p:cNvSpPr txBox="1"/>
          <p:nvPr/>
        </p:nvSpPr>
        <p:spPr>
          <a:xfrm>
            <a:off x="2786424" y="4204957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电路图不允许拍照扫描课本</a:t>
            </a:r>
          </a:p>
        </p:txBody>
      </p:sp>
    </p:spTree>
    <p:extLst>
      <p:ext uri="{BB962C8B-B14F-4D97-AF65-F5344CB8AC3E}">
        <p14:creationId xmlns:p14="http://schemas.microsoft.com/office/powerpoint/2010/main" val="314304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B57CC-1158-C5E6-851E-0CF9A175F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73E4EC-0970-9786-F0D9-5E6BD85D4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BB58A68-3D4D-FBF2-E198-427B473B8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C913308-F349-4B6D-A68A-DD1791B4A57B}" type="slidenum">
              <a:rPr lang="zh-CN" altLang="en-US" smtClean="0"/>
              <a:pPr algn="r"/>
              <a:t>4</a:t>
            </a:fld>
            <a:endParaRPr lang="zh-CN" alt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CE7B3409-B9A3-B824-96D9-1EAD972A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四、实验课学习要求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A8098DE-B6B3-D487-470B-0B9760914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781128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160000"/>
              </a:lnSpc>
              <a:spcBef>
                <a:spcPts val="600"/>
              </a:spcBef>
              <a:spcAft>
                <a:spcPts val="1200"/>
              </a:spcAft>
              <a:buClr>
                <a:schemeClr val="tx2"/>
              </a:buClr>
              <a:buSzPct val="90000"/>
              <a:buFont typeface="+mj-ea"/>
              <a:buAutoNum type="circleNumDbPlain" startAt="3"/>
            </a:pPr>
            <a:r>
              <a:rPr lang="zh-CN" altLang="en-US" dirty="0">
                <a:latin typeface="Times New Roman" pitchFamily="18" charset="0"/>
                <a:ea typeface="黑体" pitchFamily="49" charset="-122"/>
              </a:rPr>
              <a:t>实验报告（</a:t>
            </a:r>
            <a:r>
              <a:rPr lang="en-US" altLang="zh-CN" dirty="0">
                <a:latin typeface="Times New Roman" pitchFamily="18" charset="0"/>
                <a:ea typeface="黑体" pitchFamily="49" charset="-122"/>
              </a:rPr>
              <a:t>PDF</a:t>
            </a:r>
            <a:r>
              <a:rPr lang="zh-CN" altLang="en-US" dirty="0">
                <a:latin typeface="Times New Roman" pitchFamily="18" charset="0"/>
                <a:ea typeface="黑体" pitchFamily="49" charset="-122"/>
              </a:rPr>
              <a:t>版）</a:t>
            </a:r>
            <a:endParaRPr lang="en-US" altLang="zh-CN" dirty="0">
              <a:latin typeface="Times New Roman" pitchFamily="18" charset="0"/>
              <a:ea typeface="黑体" pitchFamily="49" charset="-122"/>
            </a:endParaRPr>
          </a:p>
          <a:p>
            <a:pPr marL="720000" indent="-2880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SzPct val="90000"/>
            </a:pPr>
            <a:r>
              <a:rPr lang="zh-CN" altLang="en-US" sz="2000" dirty="0">
                <a:latin typeface="Times New Roman" pitchFamily="18" charset="0"/>
                <a:ea typeface="黑体" pitchFamily="49" charset="-122"/>
              </a:rPr>
              <a:t>格式规范（文本和电路图）；</a:t>
            </a:r>
          </a:p>
          <a:p>
            <a:pPr marL="720000" indent="-2880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SzPct val="90000"/>
            </a:pPr>
            <a:r>
              <a:rPr lang="zh-CN" altLang="en-US" sz="2000" dirty="0">
                <a:latin typeface="Times New Roman" pitchFamily="18" charset="0"/>
                <a:ea typeface="黑体" pitchFamily="49" charset="-122"/>
              </a:rPr>
              <a:t>数据完整正确；</a:t>
            </a:r>
          </a:p>
          <a:p>
            <a:pPr marL="720000" indent="-2880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SzPct val="90000"/>
            </a:pPr>
            <a:r>
              <a:rPr lang="zh-CN" altLang="en-US" sz="2000" dirty="0">
                <a:latin typeface="Times New Roman" pitchFamily="18" charset="0"/>
                <a:ea typeface="黑体" pitchFamily="49" charset="-122"/>
              </a:rPr>
              <a:t>电路图绘制符合要求，每幅图片都要有编号和图题；</a:t>
            </a:r>
          </a:p>
          <a:p>
            <a:pPr marL="720000" indent="-2880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SzPct val="90000"/>
            </a:pPr>
            <a:r>
              <a:rPr lang="zh-CN" altLang="en-US" sz="2000" dirty="0">
                <a:latin typeface="Times New Roman" pitchFamily="18" charset="0"/>
                <a:ea typeface="黑体" pitchFamily="49" charset="-122"/>
              </a:rPr>
              <a:t>误差分析、实验结论、心得体会、课后思考题。</a:t>
            </a:r>
            <a:endParaRPr lang="en-US" altLang="zh-CN" sz="2000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586FCB1-5E58-894B-A35B-C2CC75C300F8}"/>
              </a:ext>
            </a:extLst>
          </p:cNvPr>
          <p:cNvSpPr txBox="1"/>
          <p:nvPr/>
        </p:nvSpPr>
        <p:spPr>
          <a:xfrm>
            <a:off x="7032104" y="1708370"/>
            <a:ext cx="454483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作业箱网址见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QQ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群</a:t>
            </a:r>
            <a:endParaRPr lang="en-US" altLang="zh-CN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手机号注册一次即可，不要重复注册；</a:t>
            </a:r>
            <a:endParaRPr lang="en-US" altLang="zh-CN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建议使用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PC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端注册使用。</a:t>
            </a:r>
          </a:p>
        </p:txBody>
      </p:sp>
    </p:spTree>
    <p:extLst>
      <p:ext uri="{BB962C8B-B14F-4D97-AF65-F5344CB8AC3E}">
        <p14:creationId xmlns:p14="http://schemas.microsoft.com/office/powerpoint/2010/main" val="3386242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itchFamily="18" charset="0"/>
                <a:ea typeface="黑体" pitchFamily="49" charset="-122"/>
              </a:rPr>
              <a:t>实验报告模板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1981200" y="1412776"/>
            <a:ext cx="8229600" cy="511256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2000" dirty="0">
                <a:latin typeface="Times New Roman" pitchFamily="18" charset="0"/>
                <a:ea typeface="黑体" pitchFamily="49" charset="-122"/>
              </a:rPr>
              <a:t>标  题</a:t>
            </a:r>
            <a:endParaRPr lang="en-US" altLang="zh-CN" sz="2000" dirty="0">
              <a:latin typeface="Times New Roman" pitchFamily="18" charset="0"/>
              <a:ea typeface="黑体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一、实验目的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AutoNum type="arabicPeriod"/>
            </a:pPr>
            <a:r>
              <a:rPr lang="en-US" altLang="zh-CN" sz="1800" dirty="0">
                <a:latin typeface="Times New Roman" pitchFamily="18" charset="0"/>
                <a:ea typeface="黑体" pitchFamily="49" charset="-122"/>
              </a:rPr>
              <a:t>……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AutoNum type="arabicPeriod"/>
            </a:pPr>
            <a:r>
              <a:rPr lang="en-US" altLang="zh-CN" sz="1800" dirty="0">
                <a:latin typeface="Times New Roman" pitchFamily="18" charset="0"/>
                <a:ea typeface="黑体" pitchFamily="49" charset="-122"/>
              </a:rPr>
              <a:t>……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二、主要仪器设备及软件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硬件：</a:t>
            </a:r>
            <a:r>
              <a:rPr lang="en-US" altLang="zh-CN" sz="1800" dirty="0">
                <a:latin typeface="仿宋" pitchFamily="49" charset="-122"/>
                <a:ea typeface="仿宋" pitchFamily="49" charset="-122"/>
              </a:rPr>
              <a:t>……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软件：</a:t>
            </a:r>
            <a:r>
              <a:rPr lang="en-US" altLang="zh-CN" sz="1800" dirty="0">
                <a:latin typeface="仿宋" pitchFamily="49" charset="-122"/>
                <a:ea typeface="仿宋" pitchFamily="49" charset="-122"/>
              </a:rPr>
              <a:t>……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三、实验内容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概述，</a:t>
            </a:r>
            <a:r>
              <a:rPr lang="en-US" altLang="zh-CN" sz="1800" dirty="0">
                <a:latin typeface="仿宋" pitchFamily="49" charset="-122"/>
                <a:ea typeface="仿宋" pitchFamily="49" charset="-122"/>
              </a:rPr>
              <a:t>200-300</a:t>
            </a: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字以内。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设计过程。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1603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itchFamily="18" charset="0"/>
                <a:ea typeface="黑体" pitchFamily="49" charset="-122"/>
              </a:rPr>
              <a:t>实验报告模板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1981200" y="1412776"/>
            <a:ext cx="8229600" cy="511256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四、实验电路图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Font typeface="Arial" pitchFamily="34" charset="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制图软件绘制（</a:t>
            </a:r>
            <a:r>
              <a:rPr lang="en-US" altLang="zh-CN" sz="1800" dirty="0">
                <a:latin typeface="仿宋" pitchFamily="49" charset="-122"/>
                <a:ea typeface="仿宋" pitchFamily="49" charset="-122"/>
              </a:rPr>
              <a:t>Visio</a:t>
            </a: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）或手绘，不可以直接拍照或扫描；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Font typeface="Arial" pitchFamily="34" charset="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标注元器件名称；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五、实验结果与分析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Font typeface="Arial" pitchFamily="34" charset="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仿真电路，仿真结果；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Font typeface="Arial" pitchFamily="34" charset="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实际电路照片，实测结果；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Font typeface="Arial" pitchFamily="34" charset="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仿真与实测结果分析。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9547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itchFamily="18" charset="0"/>
                <a:ea typeface="黑体" pitchFamily="49" charset="-122"/>
              </a:rPr>
              <a:t>实验报告模板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1981200" y="1412776"/>
            <a:ext cx="8229600" cy="511256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六、实验小结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0" indent="3600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对实验现象、</a:t>
            </a:r>
            <a:r>
              <a:rPr lang="zh-CN" altLang="en-US" sz="18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实验故障及处理方法</a:t>
            </a: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、实验中</a:t>
            </a:r>
            <a:r>
              <a:rPr lang="zh-CN" altLang="en-US" sz="18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存在的问题</a:t>
            </a: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等进行分析和讨论。对实验内容的改进意见。实验中的收获等。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七、附录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0" indent="3600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思考题、实验照片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38497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透明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经典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透明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1037</TotalTime>
  <Words>441</Words>
  <Application>Microsoft Office PowerPoint</Application>
  <PresentationFormat>宽屏</PresentationFormat>
  <Paragraphs>80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仿宋</vt:lpstr>
      <vt:lpstr>黑体</vt:lpstr>
      <vt:lpstr>宋体</vt:lpstr>
      <vt:lpstr>Arial</vt:lpstr>
      <vt:lpstr>Calibri</vt:lpstr>
      <vt:lpstr>Times New Roman</vt:lpstr>
      <vt:lpstr>Wingdings</vt:lpstr>
      <vt:lpstr>透明</vt:lpstr>
      <vt:lpstr>四、实验课学习要求</vt:lpstr>
      <vt:lpstr>预习报告模板</vt:lpstr>
      <vt:lpstr>预习报告模板</vt:lpstr>
      <vt:lpstr>四、实验课学习要求</vt:lpstr>
      <vt:lpstr>实验报告模板</vt:lpstr>
      <vt:lpstr>实验报告模板</vt:lpstr>
      <vt:lpstr>实验报告模板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基于ISE的FPGA开发流程</dc:title>
  <cp:lastModifiedBy>Kevin Sun</cp:lastModifiedBy>
  <cp:revision>139</cp:revision>
  <dcterms:modified xsi:type="dcterms:W3CDTF">2025-11-05T11:17:54Z</dcterms:modified>
</cp:coreProperties>
</file>