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315" r:id="rId2"/>
    <p:sldId id="327" r:id="rId3"/>
    <p:sldId id="328" r:id="rId4"/>
    <p:sldId id="335" r:id="rId5"/>
    <p:sldId id="317" r:id="rId6"/>
    <p:sldId id="278" r:id="rId7"/>
    <p:sldId id="292" r:id="rId8"/>
    <p:sldId id="293" r:id="rId9"/>
    <p:sldId id="334" r:id="rId10"/>
    <p:sldId id="29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76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15BB2-601E-403F-9FDB-3E20C907A62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8E575-9C6C-4393-ABAF-F1C0157F1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84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2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0D4F2-E96F-4D5B-8783-87D60E1399B7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1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48C6A-BA40-47FA-A8FA-76E867EB4601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6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0A6F-F9BB-4224-9B40-267600625D7D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3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DE98-53E8-4595-B927-EA39BA636DEE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1"/>
            <a:ext cx="5242560" cy="639763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1"/>
            <a:ext cx="5242560" cy="639763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42DA-F0C1-430A-97F1-7923DE5C9921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7890D-9233-46CD-BE82-6F5855908809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408A-6C70-459B-9B0C-0FE74A6F167E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5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48E4A-2C89-445C-95A6-96A2F6AB157B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1DFC-5882-4645-ABA0-C0ED1F3F8EC0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74C87-89A5-446C-98F8-C624F6E1E9D5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A6BD-2453-4260-ADFD-F5A10A49E960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7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CEEAEB8-CAFC-40B7-8C0F-8D770D135718}" type="datetime1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27DA8-7781-69FB-D2D6-11DEFFED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2E9F9B-914E-16B1-C170-B1F5B040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338C0B1-E763-9814-63D7-877AB91C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pPr algn="r"/>
              <a:t>1</a:t>
            </a:fld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43A43D52-1992-0254-AAF2-D032C352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四、数字电路实验课学习要求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2C7AF6B-411C-50A4-E86F-9B0526F4E8F2}"/>
              </a:ext>
            </a:extLst>
          </p:cNvPr>
          <p:cNvSpPr txBox="1">
            <a:spLocks/>
          </p:cNvSpPr>
          <p:nvPr/>
        </p:nvSpPr>
        <p:spPr>
          <a:xfrm>
            <a:off x="609600" y="1600200"/>
            <a:ext cx="10972800" cy="2764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60000"/>
              </a:lnSpc>
              <a:spcBef>
                <a:spcPts val="600"/>
              </a:spcBef>
              <a:spcAft>
                <a:spcPts val="1200"/>
              </a:spcAft>
              <a:buClr>
                <a:schemeClr val="tx2"/>
              </a:buClr>
              <a:buSzPct val="90000"/>
              <a:buFont typeface="+mj-ea"/>
              <a:buAutoNum type="circleNumDbPlain"/>
            </a:pPr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预习报告</a:t>
            </a:r>
            <a:endParaRPr lang="en-US" altLang="zh-CN" dirty="0">
              <a:latin typeface="Times New Roman" pitchFamily="18" charset="0"/>
              <a:ea typeface="黑体" pitchFamily="49" charset="-122"/>
            </a:endParaRP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熟悉实验步骤；</a:t>
            </a:r>
            <a:endParaRPr lang="en-US" altLang="zh-CN" sz="2000" dirty="0">
              <a:latin typeface="Times New Roman" pitchFamily="18" charset="0"/>
              <a:ea typeface="黑体" pitchFamily="49" charset="-122"/>
            </a:endParaRP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电路设计（设计型实验），元器件的选取和参数设置；</a:t>
            </a: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设计类题目，要有设计过程。</a:t>
            </a:r>
          </a:p>
          <a:p>
            <a:pPr marL="0" indent="0" algn="just">
              <a:lnSpc>
                <a:spcPct val="16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Arial" pitchFamily="34" charset="0"/>
              <a:buNone/>
            </a:pPr>
            <a:endParaRPr lang="zh-CN" altLang="en-US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700080-347A-175E-076F-337AC23A869B}"/>
              </a:ext>
            </a:extLst>
          </p:cNvPr>
          <p:cNvSpPr txBox="1"/>
          <p:nvPr/>
        </p:nvSpPr>
        <p:spPr>
          <a:xfrm>
            <a:off x="6888088" y="4149080"/>
            <a:ext cx="3888432" cy="224742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真值表；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画卡诺图</a:t>
            </a:r>
            <a:r>
              <a:rPr lang="en-US" altLang="zh-CN" sz="1800" dirty="0">
                <a:latin typeface="Times New Roman" pitchFamily="18" charset="0"/>
                <a:ea typeface="黑体" pitchFamily="49" charset="-122"/>
              </a:rPr>
              <a:t>/</a:t>
            </a: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状态转移图；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输出的表达式</a:t>
            </a:r>
            <a:r>
              <a:rPr lang="en-US" altLang="zh-CN" dirty="0">
                <a:latin typeface="Times New Roman" pitchFamily="18" charset="0"/>
                <a:ea typeface="黑体" pitchFamily="49" charset="-122"/>
              </a:rPr>
              <a:t>/</a:t>
            </a: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控制信号的表达式；</a:t>
            </a:r>
            <a:endParaRPr lang="en-US" altLang="zh-CN" dirty="0">
              <a:latin typeface="Times New Roman" pitchFamily="18" charset="0"/>
              <a:ea typeface="黑体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电路图；</a:t>
            </a:r>
            <a:endParaRPr lang="en-US" altLang="zh-CN" dirty="0">
              <a:latin typeface="Times New Roman" pitchFamily="18" charset="0"/>
              <a:ea typeface="黑体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预测输出波形（</a:t>
            </a:r>
            <a:r>
              <a:rPr lang="zh-CN" altLang="en-US" sz="18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手绘</a:t>
            </a: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）；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仿真结果</a:t>
            </a:r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358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F9714-5661-D61E-52C2-3F21B3F1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01602-D8E2-8396-F31B-33CAC091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预习报告模板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E18AB9-A70C-C15B-E21D-F9993DCD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255B4C9-3A13-E44F-8702-0ADB38B2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42484CE6-E6D4-5475-A991-AB5F77686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标  题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一、实验内容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实验题目；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使用硬件、软件；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二、设计过程与仿真结果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91C8E4-C570-7983-D60A-AE7246B49C8D}"/>
              </a:ext>
            </a:extLst>
          </p:cNvPr>
          <p:cNvSpPr/>
          <p:nvPr/>
        </p:nvSpPr>
        <p:spPr>
          <a:xfrm>
            <a:off x="5089848" y="3789040"/>
            <a:ext cx="4968552" cy="2601952"/>
          </a:xfrm>
          <a:prstGeom prst="roundRect">
            <a:avLst>
              <a:gd name="adj" fmla="val 680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设计过程</a:t>
            </a:r>
          </a:p>
          <a:p>
            <a:pPr marL="0" lvl="0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）正确将需求抽象为逻辑关系（确定输入输出变量是什么）</a:t>
            </a:r>
          </a:p>
          <a:p>
            <a:pPr marL="0" lvl="0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）列出真值表，卡诺图化简</a:t>
            </a:r>
          </a:p>
          <a:p>
            <a:pPr marL="0" lvl="1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）写出逻辑表达式</a:t>
            </a:r>
          </a:p>
          <a:p>
            <a:pPr marL="0" lvl="1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）绘制逻辑电路图</a:t>
            </a:r>
          </a:p>
          <a:p>
            <a:pPr marL="0" lvl="1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5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）仿真验证</a:t>
            </a:r>
          </a:p>
          <a:p>
            <a:pPr marL="0" lvl="1" indent="0" algn="l" eaLnBrk="1" hangingPunct="1">
              <a:lnSpc>
                <a:spcPct val="110000"/>
              </a:lnSpc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6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）绘制波形</a:t>
            </a:r>
          </a:p>
        </p:txBody>
      </p:sp>
    </p:spTree>
    <p:extLst>
      <p:ext uri="{BB962C8B-B14F-4D97-AF65-F5344CB8AC3E}">
        <p14:creationId xmlns:p14="http://schemas.microsoft.com/office/powerpoint/2010/main" val="150837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41B1-29B9-DB42-EC18-7D81D8C4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C46D8-1D53-47FA-FC03-26EE8523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预习报告模板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8FDE6B-587A-2B9B-F27E-F7709704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B47CCC5-3F0E-DFE0-37C9-4494DA81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F3646981-BAA1-E2C9-C1BA-A1CDD21EA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标  题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一、实验内容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实验题目；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使用硬件、软件；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二、设计过程与仿真结果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8C0D799-82CF-AE90-0D7B-975892504352}"/>
              </a:ext>
            </a:extLst>
          </p:cNvPr>
          <p:cNvSpPr/>
          <p:nvPr/>
        </p:nvSpPr>
        <p:spPr>
          <a:xfrm>
            <a:off x="2135560" y="5013977"/>
            <a:ext cx="5328592" cy="1335125"/>
          </a:xfrm>
          <a:prstGeom prst="roundRect">
            <a:avLst>
              <a:gd name="adj" fmla="val 1134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电路图绘制要求：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注明元件的型号和参数。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元件电源和地线管脚和连线在原理图中不需要注明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元件间连线若过长，可以通过加网络名的方式连接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6727FD-C57B-B06F-C0CB-1BC58A392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207" y="1916832"/>
            <a:ext cx="5224338" cy="294289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14304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50EA-AFE5-198E-2A59-2E5DE0AD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B173C-260F-B035-0C15-2CEBC6AA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预习报告模板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AD6050-6777-C347-9F75-66BDFE510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476F117-C33F-3370-7FB5-6E28E0C1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9674F162-774B-5D05-FD36-C42A231C2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标  题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一、实验内容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实验题目；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使用硬件、软件；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二、设计过程与仿真结果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7213147-7D46-7CA0-1847-4A1BDDD88A5D}"/>
              </a:ext>
            </a:extLst>
          </p:cNvPr>
          <p:cNvGrpSpPr/>
          <p:nvPr/>
        </p:nvGrpSpPr>
        <p:grpSpPr>
          <a:xfrm>
            <a:off x="4943872" y="2708920"/>
            <a:ext cx="5114528" cy="3618501"/>
            <a:chOff x="4901566" y="3859386"/>
            <a:chExt cx="3603549" cy="2259539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675791C-37A0-6F13-67F2-BB71AF0F7F0F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1566" y="3859386"/>
              <a:ext cx="3558866" cy="201788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6065798-5D9F-B614-AE53-766A97D4A334}"/>
                </a:ext>
              </a:extLst>
            </p:cNvPr>
            <p:cNvSpPr/>
            <p:nvPr/>
          </p:nvSpPr>
          <p:spPr>
            <a:xfrm>
              <a:off x="5724128" y="5852624"/>
              <a:ext cx="2780987" cy="266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楷体" pitchFamily="49" charset="-122"/>
                  <a:ea typeface="楷体" pitchFamily="49" charset="-122"/>
                </a:rPr>
                <a:t> 图</a:t>
              </a:r>
              <a:r>
                <a:rPr lang="en-US" altLang="zh-CN" sz="1400" dirty="0">
                  <a:latin typeface="楷体" pitchFamily="49" charset="-122"/>
                  <a:ea typeface="楷体" pitchFamily="49" charset="-122"/>
                </a:rPr>
                <a:t>2  8421BCD</a:t>
              </a:r>
              <a:r>
                <a:rPr lang="zh-CN" altLang="en-US" sz="1400" dirty="0">
                  <a:latin typeface="楷体" pitchFamily="49" charset="-122"/>
                  <a:ea typeface="楷体" pitchFamily="49" charset="-122"/>
                </a:rPr>
                <a:t>码波形图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574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57CC-1158-C5E6-851E-0CF9A175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73E4EC-0970-9786-F0D9-5E6BD85D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BB58A68-3D4D-FBF2-E198-427B473B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pPr algn="r"/>
              <a:t>5</a:t>
            </a:fld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E7B3409-B9A3-B824-96D9-1EAD972A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四、数字电路实验课学习要求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A8098DE-B6B3-D487-470B-0B9760914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81128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60000"/>
              </a:lnSpc>
              <a:spcBef>
                <a:spcPts val="600"/>
              </a:spcBef>
              <a:spcAft>
                <a:spcPts val="1200"/>
              </a:spcAft>
              <a:buClr>
                <a:schemeClr val="tx2"/>
              </a:buClr>
              <a:buSzPct val="90000"/>
              <a:buFont typeface="+mj-ea"/>
              <a:buAutoNum type="circleNumDbPlain" startAt="3"/>
            </a:pPr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实验报告（电子版</a:t>
            </a:r>
            <a:r>
              <a:rPr lang="en-US" altLang="zh-CN" dirty="0">
                <a:latin typeface="Times New Roman" pitchFamily="18" charset="0"/>
                <a:ea typeface="黑体" pitchFamily="49" charset="-122"/>
              </a:rPr>
              <a:t>PDF</a:t>
            </a:r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）</a:t>
            </a:r>
            <a:endParaRPr lang="en-US" altLang="zh-CN" dirty="0">
              <a:latin typeface="Times New Roman" pitchFamily="18" charset="0"/>
              <a:ea typeface="黑体" pitchFamily="49" charset="-122"/>
            </a:endParaRP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格式规范（文本和电路图）；</a:t>
            </a: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数据完整正确；</a:t>
            </a: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波形绘制符合要求，每幅图片都要有编号和图题；</a:t>
            </a:r>
          </a:p>
          <a:p>
            <a:pPr marL="720000" indent="-2880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90000"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误差分析、实验结论、心得体会、课后思考题。</a:t>
            </a:r>
            <a:endParaRPr lang="en-US" altLang="zh-CN" sz="2000" dirty="0">
              <a:latin typeface="Times New Roman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624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实验报告模板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2000" dirty="0">
                <a:latin typeface="Times New Roman" pitchFamily="18" charset="0"/>
                <a:ea typeface="黑体" pitchFamily="49" charset="-122"/>
              </a:rPr>
              <a:t>标  题</a:t>
            </a:r>
            <a:endParaRPr lang="en-US" altLang="zh-CN" sz="20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一、实验目的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en-US" altLang="zh-CN" sz="1800" dirty="0">
                <a:latin typeface="Times New Roman" pitchFamily="18" charset="0"/>
                <a:ea typeface="黑体" pitchFamily="49" charset="-122"/>
              </a:rPr>
              <a:t>……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en-US" altLang="zh-CN" sz="1800" dirty="0">
                <a:latin typeface="Times New Roman" pitchFamily="18" charset="0"/>
                <a:ea typeface="黑体" pitchFamily="49" charset="-122"/>
              </a:rPr>
              <a:t>……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二、主要仪器设备及软件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硬件：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……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软件：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……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三、实验内容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实验题目。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设计过程：</a:t>
            </a:r>
            <a:r>
              <a:rPr lang="zh-CN" altLang="en-US" sz="1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电路框图、真值表、卡诺图、表达式、状态图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等。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160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实验报告模板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四、实验电路图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制图软件绘制（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Visio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）或手绘，不可以直接截图；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标注芯片管脚名称；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Font typeface="Arial" pitchFamily="34" charset="0"/>
              <a:buAutoNum type="arabicPeriod"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注明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FPGA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芯片管脚与实验箱端口对照表。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五、实验结果与分析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实验内容、数据表格、</a:t>
            </a:r>
            <a:r>
              <a:rPr lang="zh-CN" altLang="en-US" sz="1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波形图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（</a:t>
            </a:r>
            <a:r>
              <a:rPr lang="zh-CN" altLang="en-US" sz="1800" b="1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手绘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）等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240017" y="3573016"/>
            <a:ext cx="3818384" cy="2855333"/>
            <a:chOff x="4901566" y="3859386"/>
            <a:chExt cx="3603549" cy="225953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A5444FB-E892-444B-8ECF-D7BAB3585607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1566" y="3859386"/>
              <a:ext cx="3558866" cy="2017886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2817189-B384-4551-BAC4-4F6AB552DB33}"/>
                </a:ext>
              </a:extLst>
            </p:cNvPr>
            <p:cNvSpPr/>
            <p:nvPr/>
          </p:nvSpPr>
          <p:spPr>
            <a:xfrm>
              <a:off x="5724128" y="5852624"/>
              <a:ext cx="2780987" cy="266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楷体" pitchFamily="49" charset="-122"/>
                  <a:ea typeface="楷体" pitchFamily="49" charset="-122"/>
                </a:rPr>
                <a:t> 图</a:t>
              </a:r>
              <a:r>
                <a:rPr lang="en-US" altLang="zh-CN" sz="1400" dirty="0">
                  <a:latin typeface="楷体" pitchFamily="49" charset="-122"/>
                  <a:ea typeface="楷体" pitchFamily="49" charset="-122"/>
                </a:rPr>
                <a:t>2  8421BCD</a:t>
              </a:r>
              <a:r>
                <a:rPr lang="zh-CN" altLang="en-US" sz="1400" dirty="0">
                  <a:latin typeface="楷体" pitchFamily="49" charset="-122"/>
                  <a:ea typeface="楷体" pitchFamily="49" charset="-122"/>
                </a:rPr>
                <a:t>码波形图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954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实验报告模板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112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六、实验小结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3600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对实验现象、</a:t>
            </a:r>
            <a:r>
              <a:rPr lang="zh-CN" altLang="en-US" sz="1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实验故障及处理方法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、实验中</a:t>
            </a:r>
            <a:r>
              <a:rPr lang="zh-CN" altLang="en-US" sz="18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存在的问题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等进行分析和讨论。对实验内容的改进意见。实验中的收获等。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Times New Roman" pitchFamily="18" charset="0"/>
                <a:ea typeface="黑体" pitchFamily="49" charset="-122"/>
              </a:rPr>
              <a:t>七、附录</a:t>
            </a:r>
            <a:endParaRPr lang="en-US" altLang="zh-CN" sz="1800" dirty="0">
              <a:latin typeface="Times New Roman" pitchFamily="18" charset="0"/>
              <a:ea typeface="黑体" pitchFamily="49" charset="-122"/>
            </a:endParaRPr>
          </a:p>
          <a:p>
            <a:pPr marL="0" indent="3600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实验仿真电路图，</a:t>
            </a:r>
            <a:r>
              <a:rPr lang="en-US" altLang="zh-CN" sz="1800" dirty="0">
                <a:latin typeface="仿宋" pitchFamily="49" charset="-122"/>
                <a:ea typeface="仿宋" pitchFamily="49" charset="-122"/>
              </a:rPr>
              <a:t>Verilog</a:t>
            </a: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代码与注释，仿真波形等；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  <a:p>
            <a:pPr marL="0" indent="3600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90000"/>
              <a:buNone/>
            </a:pPr>
            <a:r>
              <a:rPr lang="zh-CN" altLang="en-US" sz="1800" dirty="0">
                <a:latin typeface="仿宋" pitchFamily="49" charset="-122"/>
                <a:ea typeface="仿宋" pitchFamily="49" charset="-122"/>
              </a:rPr>
              <a:t>预习报告照片。</a:t>
            </a:r>
            <a:endParaRPr lang="en-US" altLang="zh-CN" sz="1800" dirty="0"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384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A9FA3-6605-A618-D01B-CFA781EF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368601-04D6-4148-AB62-D3FFFB09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F4BACC1-5ADF-1266-3074-5336C94E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F2CF2D4-E69B-8A7F-24BA-D053D7DAD793}"/>
              </a:ext>
            </a:extLst>
          </p:cNvPr>
          <p:cNvSpPr/>
          <p:nvPr/>
        </p:nvSpPr>
        <p:spPr>
          <a:xfrm>
            <a:off x="551384" y="1800704"/>
            <a:ext cx="5328592" cy="2432965"/>
          </a:xfrm>
          <a:prstGeom prst="roundRect">
            <a:avLst>
              <a:gd name="adj" fmla="val 1134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电路图绘制要求：</a:t>
            </a:r>
            <a:endParaRPr kumimoji="0" lang="en-US" altLang="zh-CN" sz="2000" u="none" strike="noStrike" kern="1200" cap="none" spc="0" normalizeH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00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注明元件的型号和参数。</a:t>
            </a:r>
            <a:endParaRPr kumimoji="0" lang="en-US" altLang="zh-CN" sz="2000" u="none" strike="noStrike" kern="1200" cap="none" spc="0" normalizeH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00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元件电源和地线管脚和连线在原理图中不需要注明</a:t>
            </a:r>
            <a:endParaRPr kumimoji="0" lang="en-US" altLang="zh-CN" sz="2000" u="none" strike="noStrike" kern="1200" cap="none" spc="0" normalizeH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00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元件间连线若过长，可以通过加网络名的方式连接</a:t>
            </a:r>
            <a:endParaRPr kumimoji="0" lang="zh-CN" altLang="en-US" sz="200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7F98D6-6BD7-61F3-E6DE-74A5BA9F2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992" y="3212976"/>
            <a:ext cx="5902766" cy="332505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A66D40DC-5A84-5C4E-B8A0-173D8BBB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五、数字电路实验基本知识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——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制图</a:t>
            </a:r>
          </a:p>
        </p:txBody>
      </p:sp>
    </p:spTree>
    <p:extLst>
      <p:ext uri="{BB962C8B-B14F-4D97-AF65-F5344CB8AC3E}">
        <p14:creationId xmlns:p14="http://schemas.microsoft.com/office/powerpoint/2010/main" val="163636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B241E735-2A06-B0B0-8698-0375CD543957}"/>
              </a:ext>
            </a:extLst>
          </p:cNvPr>
          <p:cNvGrpSpPr/>
          <p:nvPr/>
        </p:nvGrpSpPr>
        <p:grpSpPr>
          <a:xfrm>
            <a:off x="1919536" y="1736874"/>
            <a:ext cx="8352929" cy="4836543"/>
            <a:chOff x="1919537" y="1736874"/>
            <a:chExt cx="8352929" cy="4836543"/>
          </a:xfrm>
        </p:grpSpPr>
        <p:pic>
          <p:nvPicPr>
            <p:cNvPr id="10" name="Picture 4" descr="8421BCD图">
              <a:extLst>
                <a:ext uri="{FF2B5EF4-FFF2-40B4-BE49-F238E27FC236}">
                  <a16:creationId xmlns:a16="http://schemas.microsoft.com/office/drawing/2014/main" id="{19C73A25-F421-4194-B3A3-38CCCCCBF3AE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8805" y="2101429"/>
              <a:ext cx="6362700" cy="409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40FFD47D-633B-45F0-BF5D-73190C118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7569" y="2853011"/>
              <a:ext cx="1911923" cy="720006"/>
            </a:xfrm>
            <a:prstGeom prst="borderCallout2">
              <a:avLst>
                <a:gd name="adj1" fmla="val 12523"/>
                <a:gd name="adj2" fmla="val 103546"/>
                <a:gd name="adj3" fmla="val 12523"/>
                <a:gd name="adj4" fmla="val 106579"/>
                <a:gd name="adj5" fmla="val 79824"/>
                <a:gd name="adj6" fmla="val 119292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kumimoji="1" lang="zh-CN" altLang="en-US" sz="2000">
                  <a:latin typeface="Times New Roman" pitchFamily="18" charset="0"/>
                  <a:ea typeface="黑体" pitchFamily="49" charset="-122"/>
                </a:rPr>
                <a:t>按</a:t>
              </a:r>
              <a:r>
                <a:rPr kumimoji="1" lang="zh-CN" altLang="en-US" sz="200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权位高低</a:t>
              </a:r>
              <a:r>
                <a:rPr kumimoji="1" lang="zh-CN" altLang="en-US" sz="2000">
                  <a:latin typeface="Times New Roman" pitchFamily="18" charset="0"/>
                  <a:ea typeface="黑体" pitchFamily="49" charset="-122"/>
                </a:rPr>
                <a:t>顺序画出波形</a:t>
              </a:r>
            </a:p>
          </p:txBody>
        </p:sp>
        <p:sp>
          <p:nvSpPr>
            <p:cNvPr id="12" name="AutoShape 6">
              <a:extLst>
                <a:ext uri="{FF2B5EF4-FFF2-40B4-BE49-F238E27FC236}">
                  <a16:creationId xmlns:a16="http://schemas.microsoft.com/office/drawing/2014/main" id="{374055A6-6678-4FDF-8C07-280CD05F1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7569" y="1785765"/>
              <a:ext cx="1911923" cy="419100"/>
            </a:xfrm>
            <a:prstGeom prst="borderCallout2">
              <a:avLst>
                <a:gd name="adj1" fmla="val 21366"/>
                <a:gd name="adj2" fmla="val 103546"/>
                <a:gd name="adj3" fmla="val 21366"/>
                <a:gd name="adj4" fmla="val 115597"/>
                <a:gd name="adj5" fmla="val 236500"/>
                <a:gd name="adj6" fmla="val 127940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kumimoji="1" lang="zh-CN" altLang="en-US" sz="20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标注信号名</a:t>
              </a:r>
            </a:p>
          </p:txBody>
        </p:sp>
        <p:sp>
          <p:nvSpPr>
            <p:cNvPr id="17" name="AutoShape 7">
              <a:extLst>
                <a:ext uri="{FF2B5EF4-FFF2-40B4-BE49-F238E27FC236}">
                  <a16:creationId xmlns:a16="http://schemas.microsoft.com/office/drawing/2014/main" id="{261E82E7-9761-4E1B-B177-22BB18335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5561" y="5254204"/>
              <a:ext cx="3004123" cy="749300"/>
            </a:xfrm>
            <a:prstGeom prst="borderCallout2">
              <a:avLst>
                <a:gd name="adj1" fmla="val 12500"/>
                <a:gd name="adj2" fmla="val 102380"/>
                <a:gd name="adj3" fmla="val 12500"/>
                <a:gd name="adj4" fmla="val 126264"/>
                <a:gd name="adj5" fmla="val -95015"/>
                <a:gd name="adj6" fmla="val 194268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kumimoji="1" lang="zh-CN" altLang="en-US" sz="2000">
                  <a:latin typeface="Times New Roman" pitchFamily="18" charset="0"/>
                  <a:ea typeface="黑体" pitchFamily="49" charset="-122"/>
                </a:rPr>
                <a:t>周期最长的信号必须画出</a:t>
              </a:r>
              <a:r>
                <a:rPr kumimoji="1" lang="en-US" altLang="zh-CN" sz="200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1</a:t>
              </a:r>
              <a:r>
                <a:rPr kumimoji="1" lang="zh-CN" altLang="en-US" sz="200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个以上完整周期</a:t>
              </a:r>
            </a:p>
          </p:txBody>
        </p:sp>
        <p:sp>
          <p:nvSpPr>
            <p:cNvPr id="18" name="AutoShape 8">
              <a:extLst>
                <a:ext uri="{FF2B5EF4-FFF2-40B4-BE49-F238E27FC236}">
                  <a16:creationId xmlns:a16="http://schemas.microsoft.com/office/drawing/2014/main" id="{68E5E21A-4CC3-45D4-A891-141ADE3B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230" y="1736874"/>
              <a:ext cx="2581275" cy="756023"/>
            </a:xfrm>
            <a:prstGeom prst="borderCallout2">
              <a:avLst>
                <a:gd name="adj1" fmla="val 13634"/>
                <a:gd name="adj2" fmla="val -2685"/>
                <a:gd name="adj3" fmla="val 13634"/>
                <a:gd name="adj4" fmla="val -14940"/>
                <a:gd name="adj5" fmla="val 123486"/>
                <a:gd name="adj6" fmla="val -27421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kumimoji="1" lang="zh-CN" altLang="en-US" sz="2000" dirty="0">
                  <a:latin typeface="Times New Roman" pitchFamily="18" charset="0"/>
                  <a:ea typeface="黑体" pitchFamily="49" charset="-122"/>
                </a:rPr>
                <a:t>标注</a:t>
              </a:r>
              <a:r>
                <a:rPr kumimoji="1" lang="en-US" altLang="zh-CN" sz="2000" dirty="0">
                  <a:latin typeface="Times New Roman" pitchFamily="18" charset="0"/>
                  <a:ea typeface="黑体" pitchFamily="49" charset="-122"/>
                </a:rPr>
                <a:t>CP</a:t>
              </a:r>
              <a:r>
                <a:rPr kumimoji="1" lang="zh-CN" altLang="en-US" sz="2000" dirty="0">
                  <a:latin typeface="Times New Roman" pitchFamily="18" charset="0"/>
                  <a:ea typeface="黑体" pitchFamily="49" charset="-122"/>
                </a:rPr>
                <a:t>脉冲在计数周期中的顺序号</a:t>
              </a:r>
            </a:p>
          </p:txBody>
        </p:sp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4A82E8A1-27C3-402A-80EE-27DD32A3B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537" y="3916963"/>
              <a:ext cx="2340231" cy="808181"/>
            </a:xfrm>
            <a:prstGeom prst="borderCallout2">
              <a:avLst>
                <a:gd name="adj1" fmla="val 9611"/>
                <a:gd name="adj2" fmla="val 103486"/>
                <a:gd name="adj3" fmla="val 11104"/>
                <a:gd name="adj4" fmla="val 121935"/>
                <a:gd name="adj5" fmla="val -56059"/>
                <a:gd name="adj6" fmla="val 141222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kumimoji="1" lang="zh-CN" altLang="en-US" sz="2000" dirty="0">
                  <a:latin typeface="Times New Roman" pitchFamily="18" charset="0"/>
                  <a:ea typeface="黑体" pitchFamily="49" charset="-122"/>
                </a:rPr>
                <a:t>通过分析所有的波形找出波形的</a:t>
              </a:r>
              <a:r>
                <a:rPr kumimoji="1" lang="zh-CN" altLang="en-US" sz="20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起点</a:t>
              </a:r>
            </a:p>
          </p:txBody>
        </p:sp>
        <p:sp>
          <p:nvSpPr>
            <p:cNvPr id="20" name="AutoShape 10">
              <a:extLst>
                <a:ext uri="{FF2B5EF4-FFF2-40B4-BE49-F238E27FC236}">
                  <a16:creationId xmlns:a16="http://schemas.microsoft.com/office/drawing/2014/main" id="{E3B85775-6121-413E-BDB8-1848FD454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8290" y="5445225"/>
              <a:ext cx="1584176" cy="1128191"/>
            </a:xfrm>
            <a:prstGeom prst="borderCallout2">
              <a:avLst>
                <a:gd name="adj1" fmla="val 15125"/>
                <a:gd name="adj2" fmla="val 102861"/>
                <a:gd name="adj3" fmla="val -68166"/>
                <a:gd name="adj4" fmla="val 101759"/>
                <a:gd name="adj5" fmla="val -110622"/>
                <a:gd name="adj6" fmla="val 36210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kumimoji="1" lang="zh-CN" altLang="en-US" sz="2000" dirty="0">
                  <a:latin typeface="Times New Roman" pitchFamily="18" charset="0"/>
                  <a:ea typeface="黑体" pitchFamily="49" charset="-122"/>
                </a:rPr>
                <a:t>波形终点必须</a:t>
              </a:r>
              <a:r>
                <a:rPr kumimoji="1" lang="zh-CN" altLang="en-US" sz="20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完整</a:t>
              </a:r>
              <a:r>
                <a:rPr kumimoji="1" lang="zh-CN" altLang="en-US" sz="2000" dirty="0">
                  <a:latin typeface="Times New Roman" pitchFamily="18" charset="0"/>
                  <a:ea typeface="黑体" pitchFamily="49" charset="-122"/>
                </a:rPr>
                <a:t>不可随意画出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FDF5B88-E5F3-4A18-BCC8-295A36AB74B2}"/>
                </a:ext>
              </a:extLst>
            </p:cNvPr>
            <p:cNvCxnSpPr>
              <a:cxnSpLocks/>
            </p:cNvCxnSpPr>
            <p:nvPr/>
          </p:nvCxnSpPr>
          <p:spPr>
            <a:xfrm>
              <a:off x="8468224" y="2636912"/>
              <a:ext cx="0" cy="231207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EB0D528-C866-4D20-910D-1DBB811ECF33}"/>
                </a:ext>
              </a:extLst>
            </p:cNvPr>
            <p:cNvCxnSpPr>
              <a:cxnSpLocks/>
            </p:cNvCxnSpPr>
            <p:nvPr/>
          </p:nvCxnSpPr>
          <p:spPr>
            <a:xfrm>
              <a:off x="5796046" y="2492897"/>
              <a:ext cx="0" cy="2447212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BBE38B8-3EBE-43D5-AE74-A2E7151BE3E7}"/>
                </a:ext>
              </a:extLst>
            </p:cNvPr>
            <p:cNvCxnSpPr/>
            <p:nvPr/>
          </p:nvCxnSpPr>
          <p:spPr>
            <a:xfrm>
              <a:off x="5796046" y="4833578"/>
              <a:ext cx="2672178" cy="0"/>
            </a:xfrm>
            <a:prstGeom prst="line">
              <a:avLst/>
            </a:prstGeom>
            <a:ln>
              <a:solidFill>
                <a:srgbClr val="00B05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utoShape 8">
              <a:extLst>
                <a:ext uri="{FF2B5EF4-FFF2-40B4-BE49-F238E27FC236}">
                  <a16:creationId xmlns:a16="http://schemas.microsoft.com/office/drawing/2014/main" id="{E70707B0-4AF6-48DA-A009-53DE7193DAE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39683" y="6124849"/>
              <a:ext cx="1899632" cy="448568"/>
            </a:xfrm>
            <a:prstGeom prst="borderCallout2">
              <a:avLst>
                <a:gd name="adj1" fmla="val 51133"/>
                <a:gd name="adj2" fmla="val -1533"/>
                <a:gd name="adj3" fmla="val 51442"/>
                <a:gd name="adj4" fmla="val -22849"/>
                <a:gd name="adj5" fmla="val -286860"/>
                <a:gd name="adj6" fmla="val -34130"/>
              </a:avLst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r>
                <a:rPr kumimoji="1" lang="zh-CN" altLang="en-US" sz="2000" dirty="0">
                  <a:latin typeface="Times New Roman" pitchFamily="18" charset="0"/>
                  <a:ea typeface="黑体" pitchFamily="49" charset="-122"/>
                </a:rPr>
                <a:t>标注一个周期</a:t>
              </a:r>
              <a:r>
                <a:rPr kumimoji="1" lang="en-US" altLang="zh-CN" sz="2000" dirty="0">
                  <a:latin typeface="Times New Roman" pitchFamily="18" charset="0"/>
                  <a:ea typeface="黑体" pitchFamily="49" charset="-122"/>
                </a:rPr>
                <a:t>T</a:t>
              </a:r>
              <a:endParaRPr kumimoji="1" lang="zh-CN" altLang="en-US" sz="2000" dirty="0"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4E6DA43-D465-478E-A0CA-70009D5BE936}"/>
                </a:ext>
              </a:extLst>
            </p:cNvPr>
            <p:cNvSpPr/>
            <p:nvPr/>
          </p:nvSpPr>
          <p:spPr>
            <a:xfrm>
              <a:off x="6853382" y="4654525"/>
              <a:ext cx="356188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altLang="zh-CN" sz="2000" b="1" dirty="0">
                  <a:ln/>
                  <a:solidFill>
                    <a:schemeClr val="accent3"/>
                  </a:solidFill>
                  <a:latin typeface="Times New Roman" pitchFamily="18" charset="0"/>
                  <a:ea typeface="黑体" pitchFamily="49" charset="-122"/>
                </a:rPr>
                <a:t>T</a:t>
              </a:r>
              <a:endParaRPr lang="zh-CN" altLang="en-US" sz="2000" b="1" dirty="0">
                <a:ln/>
                <a:solidFill>
                  <a:schemeClr val="accent3"/>
                </a:solidFill>
                <a:latin typeface="Times New Roman" pitchFamily="18" charset="0"/>
                <a:ea typeface="黑体" pitchFamily="49" charset="-122"/>
              </a:endParaRPr>
            </a:p>
          </p:txBody>
        </p:sp>
      </p:grp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南京邮电大学</a:t>
            </a:r>
            <a:r>
              <a:rPr lang="en-US" altLang="zh-CN"/>
              <a:t>-</a:t>
            </a:r>
            <a:r>
              <a:rPr lang="zh-CN" altLang="en-US"/>
              <a:t>电工电子实验教学中心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C913308-F349-4B6D-A68A-DD1791B4A57B}" type="slidenum">
              <a:rPr lang="zh-CN" altLang="en-US" smtClean="0"/>
              <a:pPr algn="r"/>
              <a:t>10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C7B651A-294F-DFA3-75DA-30FAB01B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五、数字电路实验基本知识</a:t>
            </a: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——</a:t>
            </a:r>
            <a:r>
              <a:rPr lang="zh-CN" altLang="en-US" sz="3200" dirty="0">
                <a:latin typeface="Times New Roman" pitchFamily="18" charset="0"/>
                <a:ea typeface="黑体" pitchFamily="49" charset="-122"/>
              </a:rPr>
              <a:t>制图</a:t>
            </a:r>
          </a:p>
        </p:txBody>
      </p:sp>
    </p:spTree>
    <p:extLst>
      <p:ext uri="{BB962C8B-B14F-4D97-AF65-F5344CB8AC3E}">
        <p14:creationId xmlns:p14="http://schemas.microsoft.com/office/powerpoint/2010/main" val="9090703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透明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999</TotalTime>
  <Words>654</Words>
  <Application>Microsoft Office PowerPoint</Application>
  <PresentationFormat>宽屏</PresentationFormat>
  <Paragraphs>109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仿宋</vt:lpstr>
      <vt:lpstr>楷体</vt:lpstr>
      <vt:lpstr>宋体</vt:lpstr>
      <vt:lpstr>Arial</vt:lpstr>
      <vt:lpstr>Calibri</vt:lpstr>
      <vt:lpstr>Times New Roman</vt:lpstr>
      <vt:lpstr>Wingdings</vt:lpstr>
      <vt:lpstr>透明</vt:lpstr>
      <vt:lpstr>四、数字电路实验课学习要求</vt:lpstr>
      <vt:lpstr>预习报告模板</vt:lpstr>
      <vt:lpstr>预习报告模板</vt:lpstr>
      <vt:lpstr>预习报告模板</vt:lpstr>
      <vt:lpstr>四、数字电路实验课学习要求</vt:lpstr>
      <vt:lpstr>实验报告模板</vt:lpstr>
      <vt:lpstr>实验报告模板</vt:lpstr>
      <vt:lpstr>实验报告模板</vt:lpstr>
      <vt:lpstr>五、数字电路实验基本知识——制图</vt:lpstr>
      <vt:lpstr>五、数字电路实验基本知识——制图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基于ISE的FPGA开发流程</dc:title>
  <cp:lastModifiedBy>Kevin Sun</cp:lastModifiedBy>
  <cp:revision>120</cp:revision>
  <dcterms:modified xsi:type="dcterms:W3CDTF">2026-03-30T05:14:39Z</dcterms:modified>
</cp:coreProperties>
</file>